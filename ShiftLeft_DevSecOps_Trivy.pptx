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C12246-B6F9-4B0E-9E74-7DFB050DD066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“Hello everyone, good afternoon!”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“Thanks for spending your Sunday afternoon here — especially in the middle of IPL season… It’s really ramping up.. especially after two intense games from yesterday...”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“I know we’ve got some big games today — CSK vs GT, LSG vs KKR…”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“So I really appreciate you choosing this over that.”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“And if someone is watching it live, tracking the score… feel free to keep me posted.”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“I’m Abhinav. I work on DevOps, CI/CD pipelines, and data platforms — and over time I’ve found myself leaning more towards security… so yes, you could call me a DevSecOps engineer.”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“Today’s talk is about something most DevOps teams say they care about… but don’t consistently practice.”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“And you probably guessed it from the title — it’s security. Because today, security is often a report… not a gate.”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“More specifically — how do we make security a natural part of our pipeline, instead of something that happens later… or sometimes never?”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“And we’re going to do that using open-source tools, with a live demo — no theory-heavy stuff.”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“By the end of this session, you’ll see how to take a regular CI/CD pipeline… and make it actively block insecure code.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22E37D-8D68-4109-A7A5-CBEB6EE97DB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“We’ve gotten really good at shipping fast — CI/CD, automation, everything.”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“But the real question is…”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[pause]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“Are we shipping things securely… or are we just deploying vulnerabilities?”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“Because most breaches don’t come from zero-days — they come from known vulnerabilities.”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“And the scary part? Many of these could’ve been caught much earlier.”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“So these stats aren’t just numbers — they show a very real gap…”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“between how fast we ship… and how slow we detect and fix security issues.”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[look at audience]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“Quick question — how many of you currently have a security step in your pipeline?”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[observe hands, react slightly]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“Nice… / Interesting… / That’s about what I expected…” (adapt live)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“Today, we’ll change that — and we’ll do it in less than 15 minutes of actual demo time.”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2D3CCF-6C3E-4944-9BCE-B2F795A222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3: The Problem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standard pipeline shows security happening near the end — that's the core issue.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cost of fixing a bug in production vs in development is roughly 6-30× depending on the study.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bottleneck problem is real — many orgs have 1-2 security engineers for 50+ devs.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Manual pen-tests and scheduled scans miss newly introduced CVEs between cycles.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message: Security being at the end isn't just inefficient — it's a cultural and process failure.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F7EBF3-12EB-4AFA-B30F-3C6F9FD7A1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4: Why Shift Left Fails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empathy slide. Acknowledge that shift-left is a great idea in theory but the execution often fails.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Tool fatigue is real — if a team needs to learn a new tool, write a new config, and deal with a new dashboard, they won't do it.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key pain point to emphasize: false positives. If a tool cries wolf too often, devs ignore ALL output — including real critical issues.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solution isn't to not shift left — it's to do it with the simplest possible footprint. That's what Trivy offers.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526EC9-3DE6-4257-9013-39396DC06A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5: Transition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a pivot moment. You've acknowledged the pain — now you're setting up the solution.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Keep this brief. Let the slide breathe. Use a dramatic pause before moving on.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"one open-source binary" line is intentionally provocative — it sets up Trivy perfectly.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 can say: "What I'm about to show you takes 60 seconds to install and works with your existing Docker and GitHub setup."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1846FC-9E50-47DE-93E2-7052FE592D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6: Introducing Trivy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Trivy (pronounced "try-vee") is a comprehensive, open-source vulnerability scanner made by Aqua Security.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selling points to emphasize: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Single binary — no daemon, no server, no agent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Extremely low setup friction (brew/apt/docker pull)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Covers containers, repos, IaC — one tool for the whole stack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Integrates natively with GitHub Actions, GitLab CI, Jenkins, etc.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Mention that GitHub uses Trivy internally. The project has 20k+ GitHub stars and is a CNCF sandbox project.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brew/apt install is meant to show how simple it is — contrast this with SAST tools that need 30-minute setup.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69A2E6-AA1E-4C62-B75C-2AE49786D63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7: Demo Overview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your roadmap slide before jumping into the live terminal.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Walk through the 4 steps verbally before starting: "We'll start with a vulnerable Flask app in Docker, scan it, see what Trivy finds, fix it, and then put it all in GitHub Actions."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Make sure your terminal is ready. Pre-pull the vulnerable image to avoid network lag: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docker pull python:3.6-alpine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Have the demo app Dockerfile open in a split-pane editor.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Suggest having a browser tab open to the GitHub Actions workflow to show the CI result.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4011FF-7230-43A2-8BB2-A15BD6EC52D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8: Demo Step 1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Open your terminal. Build the image.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docker build -t demo-app:vulnerable 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While it builds, explain what makes this app "realistically vulnerable":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python:3.6 reached end-of-life in December 2021. No more security patches from upstream.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Flask 0.12.2 has several known vulnerabilities including SSRF and open redirect issues.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requests 2.18.0 has a known MITM vulnerability in SSL certificate validation.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NOT a contrived example — you'd be surprised how many production containers run on EOL base images.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Mention: "I've seen python:3.6 in production Dockerfiles from teams that last updated their app in 2019."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00DB48-4BB8-4C86-AEE2-19CFD81E6F4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9: Demo Step 2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Run in terminal: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trivy image demo-app:vulnerable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usually completes in 5-15 seconds. Let the output scroll.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Point out what Trivy shows: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Library name and which layer it came from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CVE ID (click-able to NVD database)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Severity (CRITICAL/HIGH/MEDIUM/LOW)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Installed version vs fixed version — actionable!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talking point: "This isn't just a list of problems — it tells you exactly what version to upgrade to."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Contrast with tools that just say "high risk detected" with no remediation path.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You can also run with --exit-code 1 to see the fail behavior: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trivy image --exit-code 1 --severity HIGH,CRITICAL demo-app:vulnerable &amp;&amp; echo "PASSED" || echo "FAILED"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22B425-3D8F-4521-98E3-710B5B6DF9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10: Demo Step 3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Make the two changes live in your editor, then rebuild and rescan: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docker build -t demo-app:fixed 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trivy image demo-app:fixed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fix is intentionally minimal — this is the point. You didn't need to rewrite the app.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message: "Trivy doesn't just find problems — it tells you the exact fix version. The diff here is 2 line changes."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After the re-scan shows clean, say: "This took about 60 seconds to fix. The scan took 10 seconds. That's your ROI on shift-left."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Acknowledge: In real apps it won't always be this clean — sometimes fixing one dep breaks another. That's what the next steps cover.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C58C84-8444-4BA9-A6F6-8AA4B8146B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11: Demo Step 4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 CUE: Open the GitHub repo and show the Actions tab. Ideally have a failing run and a passing run pre-staged to show the contrast.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config options to explain: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exit-code: '1' — this is what causes the pipeline to fail. Without this, Trivy just reports but doesn't block.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ignore-unfixed: true — critical for day-to-day use. If a CVE has no upstream fix, you can't do anything about it right now. Don't let unfixable issues block deployment — that just trains devs to ignore or bypass the gate.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severity: 'HIGH,CRITICAL' — start here. MEDIUM and LOW can be addressed in a separate non-blocking step or tracked in an issue.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Mention: "You can also use the sarif format output to push results to GitHub Security tab for tracking over time."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Show the GitHub Actions pass/fail badge on a PR if you have it.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2926F4-B0E8-45BF-850F-45FCCF20D0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12: Reality Check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builds credibility. Don't skip it — audiences respect honesty over hype.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Key talking points: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.trivyignore is powerful: you can suppress false positives with a comment explaining why you're ignoring it. This is auditable.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CVSS score alone doesn't tell you if a CVE is exploitable in your environment. A critical CVE in libc matters more in a web server than a batch job.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Trivy is a vulnerability scanner, not a SAST tool. It won't catch your custom SQL injection or IDOR bugs. Recommend pairing with Semgrep or similar for custom rules.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Security policy decisions (what severity blocks a PR, what gets a waiver) MUST be made by humans. The tool enforces the policy, it doesn't define it.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also a good place to acknowledge: "Running Trivy is the start of a conversation with your team about risk tolerance, not the end."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305FB4-2A9F-495F-A375-C450D80807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13: Best Practices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are the lessons from real-world implementations that tripped up teams.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Start small: Pick one service or one repo. Get it to green. Then expand. Trying to scan everything at once will create a tsunami of findings no one knows how to prioritize.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Fail selectively: On day 1, set exit-code: 0 (non-blocking) and just observe. On day 7, block CRITICAL. On day 30, block HIGH. Give teams time to build the habit.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Digest pinning is underrated: python:3.12-alpine can be updated under you silently. Pinning to a SHA digest gives you reproducibility and predictability. Renovate Bot can automate digest updates.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Scanning on PRs is where the value is: By the time something hits main, it's already harder to remove. The PR scan is the first line of defense.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Keeping Trivy updated: New CVEs are published daily. An outdated scanner is a false sense of security.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E2718E-B7FA-4B5D-955D-94ACEFD6673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14: Key Takeaways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Summarize quickly — the audience has seen the demo, this is just reinforcement.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Revisit the opening question: "We asked 'are we deploying vulnerabilities?' — now you have an answer, and a way to stop doing it."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open source point is important for this audience (FOSS meetup). Trivy being Apache 2.0 means: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No vendor lock-in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You can inspect the scanner code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Community-driven CVE database (backed by NVD, OSV, GitHub Advisory Database)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End with energy — the demo proved the point, the takeaways are the story summary.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2338AE-72B0-40BB-8F9E-D245309DF7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 NOTES – Slide 15: Closing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End strong. This is the landing — make it land.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Repeat the closing line with conviction: "In under 15 minutes, we turned a regular pipeline into one that actively blocks vulnerable code using open source."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Invite questions. Useful prompts if the room is quiet: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"Who here has had a CVE in production that they found out about from a customer?"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"What's blocking your team from adding a security step today?"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Share resources: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github.com/aquasecurity/trivy (star it!)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trivy.dev — official docs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Your demo repo link or GitHub gist with the workflow YAML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you have a QR code for your slides or demo repo, add it to the bottom right corner to replace the placeholder.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the audience. This is a FOSS meetup — mention that Trivy contributions and issue reports from the community are welcome.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904C14-9D24-4CFE-8884-6003BBF02D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/>
          <p:cNvPicPr/>
          <p:nvPr/>
        </p:nvPicPr>
        <p:blipFill>
          <a:blip r:embed="rId1"/>
          <a:stretch/>
        </p:blipFill>
        <p:spPr>
          <a:xfrm>
            <a:off x="457200" y="822960"/>
            <a:ext cx="109656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1737360" y="731520"/>
            <a:ext cx="71316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Shift Left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737360" y="1417320"/>
            <a:ext cx="71316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Without the Pain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737360" y="224028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Turning Security into a DevOps Habit with Open Source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457200" y="2880360"/>
            <a:ext cx="8228880" cy="22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57200" y="30175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Abhinav Bharadwaj R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57200" y="34016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FOSSUnited Bengaluru · April Meetup 2026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7132320" y="3017520"/>
            <a:ext cx="1645200" cy="346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7150680" y="3044880"/>
            <a:ext cx="1608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🔓 Open Source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57200" y="489204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Droid Sans"/>
                <a:ea typeface="Consolas"/>
              </a:rPr>
              <a:t>DevSecOps · Trivy · GitHub Actions · Docker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THE REALITY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48640" y="731520"/>
            <a:ext cx="8046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 deploy fast.</a:t>
            </a:r>
            <a:endParaRPr b="0" lang="en-IN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48640" y="1600200"/>
            <a:ext cx="8046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But are we deploying vulnerabilities?</a:t>
            </a:r>
            <a:endParaRPr b="0" lang="en-IN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57200" y="2743200"/>
            <a:ext cx="2696760" cy="191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48640" y="2853000"/>
            <a:ext cx="251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80%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48640" y="3566160"/>
            <a:ext cx="2513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of breaches involve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 known vulnerability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310200" y="2743200"/>
            <a:ext cx="2696760" cy="191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3401640" y="2853000"/>
            <a:ext cx="251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d29922"/>
                </a:solidFill>
                <a:effectLst/>
                <a:uFillTx/>
                <a:latin typeface="Calibri"/>
                <a:ea typeface="Calibri"/>
              </a:rPr>
              <a:t>60 days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3401640" y="3566160"/>
            <a:ext cx="2513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average time to fix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 critical CVE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6163200" y="2743200"/>
            <a:ext cx="2696760" cy="1919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254640" y="2853000"/>
            <a:ext cx="251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70%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254640" y="3566160"/>
            <a:ext cx="2513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of issues found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in production are fixable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earlier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THE PROBLEM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45720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is Late, Manual, or Ignored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274320" y="1325880"/>
            <a:ext cx="1416600" cy="776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11040" y="1353240"/>
            <a:ext cx="13435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Dev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1691640" y="1691640"/>
            <a:ext cx="456480" cy="360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1828800" y="1572840"/>
            <a:ext cx="227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b949e"/>
                </a:solidFill>
                <a:effectLst/>
                <a:uFillTx/>
                <a:latin typeface="Calibri"/>
              </a:rPr>
              <a:t>›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1874520" y="1325880"/>
            <a:ext cx="1416600" cy="7765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1911240" y="1353240"/>
            <a:ext cx="13435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3291840" y="1691640"/>
            <a:ext cx="456480" cy="360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3429000" y="1572840"/>
            <a:ext cx="227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b949e"/>
                </a:solidFill>
                <a:effectLst/>
                <a:uFillTx/>
                <a:latin typeface="Calibri"/>
              </a:rPr>
              <a:t>›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3474720" y="1325880"/>
            <a:ext cx="1416600" cy="7765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3511440" y="1353240"/>
            <a:ext cx="13435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4892040" y="1691640"/>
            <a:ext cx="456480" cy="360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5029200" y="1572840"/>
            <a:ext cx="227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b949e"/>
                </a:solidFill>
                <a:effectLst/>
                <a:uFillTx/>
                <a:latin typeface="Calibri"/>
              </a:rPr>
              <a:t>›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5074920" y="1325880"/>
            <a:ext cx="1416600" cy="776520"/>
          </a:xfrm>
          <a:prstGeom prst="rect">
            <a:avLst/>
          </a:prstGeom>
          <a:solidFill>
            <a:srgbClr val="3d1a1a"/>
          </a:solidFill>
          <a:ln w="254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5111640" y="1353240"/>
            <a:ext cx="13435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Scan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6492240" y="1691640"/>
            <a:ext cx="456480" cy="360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629400" y="1572840"/>
            <a:ext cx="227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b949e"/>
                </a:solidFill>
                <a:effectLst/>
                <a:uFillTx/>
                <a:latin typeface="Calibri"/>
              </a:rPr>
              <a:t>›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9"/>
          <p:cNvSpPr/>
          <p:nvPr/>
        </p:nvSpPr>
        <p:spPr>
          <a:xfrm>
            <a:off x="6675120" y="1325880"/>
            <a:ext cx="1416600" cy="7765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6711840" y="1353240"/>
            <a:ext cx="13435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4937760" y="21304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↑  Too late, too slow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320040" y="2606040"/>
            <a:ext cx="411408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457200" y="27615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3"/>
          <p:cNvSpPr/>
          <p:nvPr/>
        </p:nvSpPr>
        <p:spPr>
          <a:xfrm>
            <a:off x="960120" y="2697480"/>
            <a:ext cx="3382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Vulnerabilities found post-deploy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960120" y="2990160"/>
            <a:ext cx="3382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Fixing in prod is 10× costlier than dev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5"/>
          <p:cNvSpPr/>
          <p:nvPr/>
        </p:nvSpPr>
        <p:spPr>
          <a:xfrm>
            <a:off x="4754880" y="2606040"/>
            <a:ext cx="411408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4892040" y="27615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6"/>
          <p:cNvSpPr/>
          <p:nvPr/>
        </p:nvSpPr>
        <p:spPr>
          <a:xfrm>
            <a:off x="5394960" y="2697480"/>
            <a:ext cx="3382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Manual security reviews are a bottleneck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5394960" y="2990160"/>
            <a:ext cx="3382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One security team, hundreds of PRs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8"/>
          <p:cNvSpPr/>
          <p:nvPr/>
        </p:nvSpPr>
        <p:spPr>
          <a:xfrm>
            <a:off x="320040" y="3520440"/>
            <a:ext cx="411408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2" descr="preencoded.png"/>
          <p:cNvPicPr/>
          <p:nvPr/>
        </p:nvPicPr>
        <p:blipFill>
          <a:blip r:embed="rId3"/>
          <a:stretch/>
        </p:blipFill>
        <p:spPr>
          <a:xfrm>
            <a:off x="457200" y="3675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9"/>
          <p:cNvSpPr/>
          <p:nvPr/>
        </p:nvSpPr>
        <p:spPr>
          <a:xfrm>
            <a:off x="960120" y="3611880"/>
            <a:ext cx="3382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Scanning is an afterthought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0"/>
          <p:cNvSpPr/>
          <p:nvPr/>
        </p:nvSpPr>
        <p:spPr>
          <a:xfrm>
            <a:off x="960120" y="3904560"/>
            <a:ext cx="3382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Scheduled scans, not pipeline-native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1"/>
          <p:cNvSpPr/>
          <p:nvPr/>
        </p:nvSpPr>
        <p:spPr>
          <a:xfrm>
            <a:off x="4754880" y="3520440"/>
            <a:ext cx="411408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3" descr="preencoded.png"/>
          <p:cNvPicPr/>
          <p:nvPr/>
        </p:nvPicPr>
        <p:blipFill>
          <a:blip r:embed="rId4"/>
          <a:stretch/>
        </p:blipFill>
        <p:spPr>
          <a:xfrm>
            <a:off x="4892040" y="3675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32"/>
          <p:cNvSpPr/>
          <p:nvPr/>
        </p:nvSpPr>
        <p:spPr>
          <a:xfrm>
            <a:off x="5394960" y="3611880"/>
            <a:ext cx="33825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 aren't trained to think security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3"/>
          <p:cNvSpPr/>
          <p:nvPr/>
        </p:nvSpPr>
        <p:spPr>
          <a:xfrm>
            <a:off x="5394960" y="3904560"/>
            <a:ext cx="3382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Security is 'someone else's problem'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THE FRICTION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457200" y="457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Shift Left Fails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457200" y="100584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(And why teams give up)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320040" y="1572840"/>
            <a:ext cx="8503200" cy="712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320040" y="1572840"/>
            <a:ext cx="54000" cy="7124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502920" y="1719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6"/>
          <p:cNvSpPr/>
          <p:nvPr/>
        </p:nvSpPr>
        <p:spPr>
          <a:xfrm>
            <a:off x="1024200" y="16642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Too many tools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1024200" y="1938600"/>
            <a:ext cx="7497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SAST, DAST, SCA, container scanning, IaC scanning… each needing a different config and expertise</a:t>
            </a:r>
            <a:endParaRPr b="0" lang="en-IN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320040" y="2377440"/>
            <a:ext cx="8503200" cy="712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20040" y="2377440"/>
            <a:ext cx="54000" cy="7124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preencoded.png"/>
          <p:cNvPicPr/>
          <p:nvPr/>
        </p:nvPicPr>
        <p:blipFill>
          <a:blip r:embed="rId2"/>
          <a:stretch/>
        </p:blipFill>
        <p:spPr>
          <a:xfrm>
            <a:off x="502920" y="25236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0"/>
          <p:cNvSpPr/>
          <p:nvPr/>
        </p:nvSpPr>
        <p:spPr>
          <a:xfrm>
            <a:off x="1024200" y="24688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Alert fatigue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1024200" y="2743200"/>
            <a:ext cx="7497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Thousands of findings, most low-risk. Developers tune out. False positives kill trust.</a:t>
            </a:r>
            <a:endParaRPr b="0" lang="en-IN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320040" y="3182040"/>
            <a:ext cx="8503200" cy="712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320040" y="3182040"/>
            <a:ext cx="54000" cy="712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2" descr="preencoded.png"/>
          <p:cNvPicPr/>
          <p:nvPr/>
        </p:nvPicPr>
        <p:blipFill>
          <a:blip r:embed="rId3"/>
          <a:stretch/>
        </p:blipFill>
        <p:spPr>
          <a:xfrm>
            <a:off x="502920" y="33285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4"/>
          <p:cNvSpPr/>
          <p:nvPr/>
        </p:nvSpPr>
        <p:spPr>
          <a:xfrm>
            <a:off x="1024200" y="32734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developer feedback loop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1024200" y="3547800"/>
            <a:ext cx="7497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Security findings show up in a separate dashboard nobody reads during a sprint</a:t>
            </a:r>
            <a:endParaRPr b="0" lang="en-IN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320040" y="3986640"/>
            <a:ext cx="8503200" cy="712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7"/>
          <p:cNvSpPr/>
          <p:nvPr/>
        </p:nvSpPr>
        <p:spPr>
          <a:xfrm>
            <a:off x="320040" y="3986640"/>
            <a:ext cx="54000" cy="712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3" descr="preencoded.png"/>
          <p:cNvPicPr/>
          <p:nvPr/>
        </p:nvPicPr>
        <p:blipFill>
          <a:blip r:embed="rId4"/>
          <a:stretch/>
        </p:blipFill>
        <p:spPr>
          <a:xfrm>
            <a:off x="502920" y="41331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8"/>
          <p:cNvSpPr/>
          <p:nvPr/>
        </p:nvSpPr>
        <p:spPr>
          <a:xfrm>
            <a:off x="1024200" y="40780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Complex setup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1024200" y="4352400"/>
            <a:ext cx="7497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Signing up for enterprise scanners, API keys, dashboards — barriers before first scan</a:t>
            </a:r>
            <a:endParaRPr b="0" lang="en-IN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0" y="3840480"/>
            <a:ext cx="9143280" cy="1297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3886200" y="502920"/>
            <a:ext cx="1370880" cy="137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2"/>
          <p:cNvSpPr/>
          <p:nvPr/>
        </p:nvSpPr>
        <p:spPr>
          <a:xfrm>
            <a:off x="457200" y="19202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What if security could be</a:t>
            </a:r>
            <a:endParaRPr b="0" lang="en-IN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457200" y="251460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simple and already in your pipeline?</a:t>
            </a:r>
            <a:endParaRPr b="0" lang="en-IN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914400" y="39776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No new dashboards. No new accounts. No YAML sprawl.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914400" y="43707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Just one open-source binary.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THE TOOL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457200" y="475560"/>
            <a:ext cx="2285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Trivy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457200" y="107892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Open Source · by Aqua Security · Apache 2.0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457200" y="1481400"/>
            <a:ext cx="4114080" cy="474840"/>
          </a:xfrm>
          <a:prstGeom prst="rect">
            <a:avLst/>
          </a:prstGeom>
          <a:solidFill>
            <a:srgbClr val="1a1f2b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594360" y="155448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brew install trivy   |   apt install trivy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274320" y="2121480"/>
            <a:ext cx="2788200" cy="2696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411480" y="22312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7"/>
          <p:cNvSpPr/>
          <p:nvPr/>
        </p:nvSpPr>
        <p:spPr>
          <a:xfrm>
            <a:off x="960120" y="224928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Container Images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365760" y="2743200"/>
            <a:ext cx="2605320" cy="22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11480" y="283464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OS packages (Alpine, Debian, Ubuntu)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411480" y="335592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Language libs (npm, pip, go, gem)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11480" y="387720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Dockerfile misconfigs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3218760" y="2121480"/>
            <a:ext cx="2788200" cy="2696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3355920" y="22312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3"/>
          <p:cNvSpPr/>
          <p:nvPr/>
        </p:nvSpPr>
        <p:spPr>
          <a:xfrm>
            <a:off x="3904560" y="224928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Source Code / Repos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3310200" y="2743200"/>
            <a:ext cx="2605320" cy="22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3355920" y="283464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Dependency files (package.json, Pipfile)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3355920" y="335592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Secret detection (API keys, tokens)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3355920" y="387720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SBOM generation (CycloneDX, SPDX)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8"/>
          <p:cNvSpPr/>
          <p:nvPr/>
        </p:nvSpPr>
        <p:spPr>
          <a:xfrm>
            <a:off x="6163200" y="2121480"/>
            <a:ext cx="2788200" cy="2696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6300360" y="22312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9"/>
          <p:cNvSpPr/>
          <p:nvPr/>
        </p:nvSpPr>
        <p:spPr>
          <a:xfrm>
            <a:off x="6849000" y="224928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IaC &amp; Config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6254640" y="2743200"/>
            <a:ext cx="2605320" cy="22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6300360" y="283464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Terraform, Kubernetes manifests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6300360" y="335592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Helm charts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3"/>
          <p:cNvSpPr/>
          <p:nvPr/>
        </p:nvSpPr>
        <p:spPr>
          <a:xfrm>
            <a:off x="6300360" y="3877200"/>
            <a:ext cx="257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› Docker Compose, CloudFormation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DEMO ROADMAP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457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Demo: Scan → Fail → Fix → Automate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10242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4 steps · ~10 minutes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457200" y="1536120"/>
            <a:ext cx="1965240" cy="3016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511920" y="1536120"/>
            <a:ext cx="1855440" cy="4197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11920" y="1536120"/>
            <a:ext cx="18554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01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1124640" y="210312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7"/>
          <p:cNvSpPr/>
          <p:nvPr/>
        </p:nvSpPr>
        <p:spPr>
          <a:xfrm>
            <a:off x="548640" y="2853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Vulnerable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548640" y="3420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Docker with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outdated base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2423160" y="2651760"/>
            <a:ext cx="20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0363d"/>
                </a:solidFill>
                <a:effectLst/>
                <a:uFillTx/>
                <a:latin typeface="Calibri"/>
              </a:rPr>
              <a:t>→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2633400" y="1536120"/>
            <a:ext cx="1965240" cy="3016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2688480" y="1536120"/>
            <a:ext cx="1855440" cy="4197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2688480" y="1536120"/>
            <a:ext cx="18554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02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preencoded.png"/>
          <p:cNvPicPr/>
          <p:nvPr/>
        </p:nvPicPr>
        <p:blipFill>
          <a:blip r:embed="rId2"/>
          <a:stretch/>
        </p:blipFill>
        <p:spPr>
          <a:xfrm>
            <a:off x="3300840" y="210312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3"/>
          <p:cNvSpPr/>
          <p:nvPr/>
        </p:nvSpPr>
        <p:spPr>
          <a:xfrm>
            <a:off x="2724840" y="2853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Scan with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Trivy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2724840" y="3420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Detect CVEs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and severity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4599360" y="2651760"/>
            <a:ext cx="20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0363d"/>
                </a:solidFill>
                <a:effectLst/>
                <a:uFillTx/>
                <a:latin typeface="Calibri"/>
              </a:rPr>
              <a:t>→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4809600" y="1536120"/>
            <a:ext cx="1965240" cy="3016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4864680" y="1536120"/>
            <a:ext cx="1855440" cy="419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4864680" y="1536120"/>
            <a:ext cx="18554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03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2" descr="preencoded.png"/>
          <p:cNvPicPr/>
          <p:nvPr/>
        </p:nvPicPr>
        <p:blipFill>
          <a:blip r:embed="rId3"/>
          <a:stretch/>
        </p:blipFill>
        <p:spPr>
          <a:xfrm>
            <a:off x="5477400" y="210312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9"/>
          <p:cNvSpPr/>
          <p:nvPr/>
        </p:nvSpPr>
        <p:spPr>
          <a:xfrm>
            <a:off x="4901040" y="2853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Fix &amp;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Re-scan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901040" y="3420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Update image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verify clean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6775560" y="2651760"/>
            <a:ext cx="20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0363d"/>
                </a:solidFill>
                <a:effectLst/>
                <a:uFillTx/>
                <a:latin typeface="Calibri"/>
              </a:rPr>
              <a:t>→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6986160" y="1536120"/>
            <a:ext cx="1965240" cy="3016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7040880" y="1536120"/>
            <a:ext cx="1855440" cy="419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7040880" y="1536120"/>
            <a:ext cx="18554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04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3" descr="preencoded.png"/>
          <p:cNvPicPr/>
          <p:nvPr/>
        </p:nvPicPr>
        <p:blipFill>
          <a:blip r:embed="rId4"/>
          <a:stretch/>
        </p:blipFill>
        <p:spPr>
          <a:xfrm>
            <a:off x="7653600" y="210312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25"/>
          <p:cNvSpPr/>
          <p:nvPr/>
        </p:nvSpPr>
        <p:spPr>
          <a:xfrm>
            <a:off x="7077600" y="2853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Integration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7077600" y="342000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GitHub Actions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auto-block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280" cy="474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365760" y="5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01  ·  Vulnerable App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457200" y="64008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simple Flask app on an old base image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457200" y="1170360"/>
            <a:ext cx="3931200" cy="246816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594360" y="1261800"/>
            <a:ext cx="36568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FROM python:3.6-alpine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requirements.txt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RUN pip install -r requirements.txt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.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CMD ["python", "app.py"]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502920" y="100584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Dockerfile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4572000" y="1170360"/>
            <a:ext cx="3931200" cy="127944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4709160" y="1261800"/>
            <a:ext cx="3656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flask==0.12.2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requests==2.18.0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pyyaml==3.12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4617720" y="1005840"/>
            <a:ext cx="2742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requirements.txt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4572000" y="2578680"/>
            <a:ext cx="3931200" cy="1059840"/>
          </a:xfrm>
          <a:prstGeom prst="rect">
            <a:avLst/>
          </a:prstGeom>
          <a:solidFill>
            <a:srgbClr val="3d1a1a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0" descr="preencoded.png"/>
          <p:cNvPicPr/>
          <p:nvPr/>
        </p:nvPicPr>
        <p:blipFill>
          <a:blip r:embed="rId1"/>
          <a:stretch/>
        </p:blipFill>
        <p:spPr>
          <a:xfrm>
            <a:off x="4681800" y="271584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0"/>
          <p:cNvSpPr/>
          <p:nvPr/>
        </p:nvSpPr>
        <p:spPr>
          <a:xfrm>
            <a:off x="5120640" y="262440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Why it's dangerous: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120640" y="2907720"/>
            <a:ext cx="3291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python:3.6-alpine</a:t>
            </a: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 → EOL since Dec 2021, 50+ known CVEs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120640" y="3218760"/>
            <a:ext cx="3291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flask 0.12.2</a:t>
            </a: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 → Multiple HIGH severity CVEs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457200" y="3767400"/>
            <a:ext cx="3931200" cy="56628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385884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$ docker build -t demo-app:vulnerable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280" cy="4748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365760" y="5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02  ·  Scan with Trivy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457200" y="6217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One command to see everything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457200" y="1115640"/>
            <a:ext cx="8228880" cy="50220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594360" y="1207080"/>
            <a:ext cx="7954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$ trivy image demo-app:vulnerable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457200" y="1755720"/>
            <a:ext cx="1462320" cy="328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511920" y="179208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d1d9"/>
                </a:solidFill>
                <a:effectLst/>
                <a:uFillTx/>
                <a:latin typeface="Consolas"/>
                <a:ea typeface="Consolas"/>
              </a:rPr>
              <a:t>Library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1920240" y="1755720"/>
            <a:ext cx="1736640" cy="328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1974960" y="179208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d1d9"/>
                </a:solidFill>
                <a:effectLst/>
                <a:uFillTx/>
                <a:latin typeface="Consolas"/>
                <a:ea typeface="Consolas"/>
              </a:rPr>
              <a:t>Vulnerability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3657600" y="1755720"/>
            <a:ext cx="1096560" cy="328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3712320" y="1792080"/>
            <a:ext cx="1005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d1d9"/>
                </a:solidFill>
                <a:effectLst/>
                <a:uFillTx/>
                <a:latin typeface="Consolas"/>
                <a:ea typeface="Consolas"/>
              </a:rPr>
              <a:t>Severity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4754880" y="1755720"/>
            <a:ext cx="1188000" cy="328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809600" y="1792080"/>
            <a:ext cx="1096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d1d9"/>
                </a:solidFill>
                <a:effectLst/>
                <a:uFillTx/>
                <a:latin typeface="Consolas"/>
                <a:ea typeface="Consolas"/>
              </a:rPr>
              <a:t>Installed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5943600" y="1755720"/>
            <a:ext cx="1096560" cy="328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5998320" y="1792080"/>
            <a:ext cx="1005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9d1d9"/>
                </a:solidFill>
                <a:effectLst/>
                <a:uFillTx/>
                <a:latin typeface="Consolas"/>
                <a:ea typeface="Consolas"/>
              </a:rPr>
              <a:t>Fixed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457200" y="2084760"/>
            <a:ext cx="146232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511920" y="2139840"/>
            <a:ext cx="1370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python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1920240" y="2084760"/>
            <a:ext cx="173664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1974960" y="21398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CVE-2022-37454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3657600" y="208476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3712320" y="21398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CRITICAL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1"/>
          <p:cNvSpPr/>
          <p:nvPr/>
        </p:nvSpPr>
        <p:spPr>
          <a:xfrm>
            <a:off x="4754880" y="2084760"/>
            <a:ext cx="118800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4809600" y="213984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3.6.15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5943600" y="208476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5998320" y="21398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3.11.0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457200" y="2432160"/>
            <a:ext cx="146232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511920" y="2487240"/>
            <a:ext cx="1370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flask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7"/>
          <p:cNvSpPr/>
          <p:nvPr/>
        </p:nvSpPr>
        <p:spPr>
          <a:xfrm>
            <a:off x="1920240" y="2432160"/>
            <a:ext cx="173664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1974960" y="24872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CVE-2018-1000656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9"/>
          <p:cNvSpPr/>
          <p:nvPr/>
        </p:nvSpPr>
        <p:spPr>
          <a:xfrm>
            <a:off x="3657600" y="2432160"/>
            <a:ext cx="109656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3712320" y="24872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29922"/>
                </a:solidFill>
                <a:effectLst/>
                <a:uFillTx/>
                <a:latin typeface="Consolas"/>
                <a:ea typeface="Consolas"/>
              </a:rPr>
              <a:t>HIGH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1"/>
          <p:cNvSpPr/>
          <p:nvPr/>
        </p:nvSpPr>
        <p:spPr>
          <a:xfrm>
            <a:off x="4754880" y="2432160"/>
            <a:ext cx="118800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4809600" y="248724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0.12.2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3"/>
          <p:cNvSpPr/>
          <p:nvPr/>
        </p:nvSpPr>
        <p:spPr>
          <a:xfrm>
            <a:off x="5943600" y="2432160"/>
            <a:ext cx="109656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5998320" y="24872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0.12.3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5"/>
          <p:cNvSpPr/>
          <p:nvPr/>
        </p:nvSpPr>
        <p:spPr>
          <a:xfrm>
            <a:off x="457200" y="2779920"/>
            <a:ext cx="146232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511920" y="2834640"/>
            <a:ext cx="1370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requests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7"/>
          <p:cNvSpPr/>
          <p:nvPr/>
        </p:nvSpPr>
        <p:spPr>
          <a:xfrm>
            <a:off x="1920240" y="2779920"/>
            <a:ext cx="173664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1974960" y="28346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CVE-2023-32681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9"/>
          <p:cNvSpPr/>
          <p:nvPr/>
        </p:nvSpPr>
        <p:spPr>
          <a:xfrm>
            <a:off x="3657600" y="277992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0"/>
          <p:cNvSpPr/>
          <p:nvPr/>
        </p:nvSpPr>
        <p:spPr>
          <a:xfrm>
            <a:off x="3712320" y="28346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29922"/>
                </a:solidFill>
                <a:effectLst/>
                <a:uFillTx/>
                <a:latin typeface="Consolas"/>
                <a:ea typeface="Consolas"/>
              </a:rPr>
              <a:t>HIGH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1"/>
          <p:cNvSpPr/>
          <p:nvPr/>
        </p:nvSpPr>
        <p:spPr>
          <a:xfrm>
            <a:off x="4754880" y="2779920"/>
            <a:ext cx="118800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2"/>
          <p:cNvSpPr/>
          <p:nvPr/>
        </p:nvSpPr>
        <p:spPr>
          <a:xfrm>
            <a:off x="4809600" y="283464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2.18.0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3"/>
          <p:cNvSpPr/>
          <p:nvPr/>
        </p:nvSpPr>
        <p:spPr>
          <a:xfrm>
            <a:off x="5943600" y="277992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4"/>
          <p:cNvSpPr/>
          <p:nvPr/>
        </p:nvSpPr>
        <p:spPr>
          <a:xfrm>
            <a:off x="5998320" y="28346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2.31.0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5"/>
          <p:cNvSpPr/>
          <p:nvPr/>
        </p:nvSpPr>
        <p:spPr>
          <a:xfrm>
            <a:off x="457200" y="3127320"/>
            <a:ext cx="146232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6"/>
          <p:cNvSpPr/>
          <p:nvPr/>
        </p:nvSpPr>
        <p:spPr>
          <a:xfrm>
            <a:off x="511920" y="3182040"/>
            <a:ext cx="1370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pyyaml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7"/>
          <p:cNvSpPr/>
          <p:nvPr/>
        </p:nvSpPr>
        <p:spPr>
          <a:xfrm>
            <a:off x="1920240" y="3127320"/>
            <a:ext cx="173664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8"/>
          <p:cNvSpPr/>
          <p:nvPr/>
        </p:nvSpPr>
        <p:spPr>
          <a:xfrm>
            <a:off x="1974960" y="31820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CVE-2020-14343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9"/>
          <p:cNvSpPr/>
          <p:nvPr/>
        </p:nvSpPr>
        <p:spPr>
          <a:xfrm>
            <a:off x="3657600" y="3127320"/>
            <a:ext cx="109656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0"/>
          <p:cNvSpPr/>
          <p:nvPr/>
        </p:nvSpPr>
        <p:spPr>
          <a:xfrm>
            <a:off x="3712320" y="31820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CRITICAL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1"/>
          <p:cNvSpPr/>
          <p:nvPr/>
        </p:nvSpPr>
        <p:spPr>
          <a:xfrm>
            <a:off x="4754880" y="3127320"/>
            <a:ext cx="118800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2"/>
          <p:cNvSpPr/>
          <p:nvPr/>
        </p:nvSpPr>
        <p:spPr>
          <a:xfrm>
            <a:off x="4809600" y="318204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3.12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3"/>
          <p:cNvSpPr/>
          <p:nvPr/>
        </p:nvSpPr>
        <p:spPr>
          <a:xfrm>
            <a:off x="5943600" y="3127320"/>
            <a:ext cx="1096560" cy="346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4"/>
          <p:cNvSpPr/>
          <p:nvPr/>
        </p:nvSpPr>
        <p:spPr>
          <a:xfrm>
            <a:off x="5998320" y="31820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5.4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5"/>
          <p:cNvSpPr/>
          <p:nvPr/>
        </p:nvSpPr>
        <p:spPr>
          <a:xfrm>
            <a:off x="457200" y="3474720"/>
            <a:ext cx="146232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6"/>
          <p:cNvSpPr/>
          <p:nvPr/>
        </p:nvSpPr>
        <p:spPr>
          <a:xfrm>
            <a:off x="511920" y="3529440"/>
            <a:ext cx="1370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urllib3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57"/>
          <p:cNvSpPr/>
          <p:nvPr/>
        </p:nvSpPr>
        <p:spPr>
          <a:xfrm>
            <a:off x="1920240" y="3474720"/>
            <a:ext cx="173664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8"/>
          <p:cNvSpPr/>
          <p:nvPr/>
        </p:nvSpPr>
        <p:spPr>
          <a:xfrm>
            <a:off x="1974960" y="35294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CVE-2023-45803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9"/>
          <p:cNvSpPr/>
          <p:nvPr/>
        </p:nvSpPr>
        <p:spPr>
          <a:xfrm>
            <a:off x="3657600" y="347472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0"/>
          <p:cNvSpPr/>
          <p:nvPr/>
        </p:nvSpPr>
        <p:spPr>
          <a:xfrm>
            <a:off x="3712320" y="35294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8a6ff"/>
                </a:solidFill>
                <a:effectLst/>
                <a:uFillTx/>
                <a:latin typeface="Consolas"/>
                <a:ea typeface="Consolas"/>
              </a:rPr>
              <a:t>MEDIUM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1"/>
          <p:cNvSpPr/>
          <p:nvPr/>
        </p:nvSpPr>
        <p:spPr>
          <a:xfrm>
            <a:off x="4754880" y="3474720"/>
            <a:ext cx="118800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2"/>
          <p:cNvSpPr/>
          <p:nvPr/>
        </p:nvSpPr>
        <p:spPr>
          <a:xfrm>
            <a:off x="4809600" y="352944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1.21.1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3"/>
          <p:cNvSpPr/>
          <p:nvPr/>
        </p:nvSpPr>
        <p:spPr>
          <a:xfrm>
            <a:off x="5943600" y="3474720"/>
            <a:ext cx="1096560" cy="346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4"/>
          <p:cNvSpPr/>
          <p:nvPr/>
        </p:nvSpPr>
        <p:spPr>
          <a:xfrm>
            <a:off x="5998320" y="35294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2.0.7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5"/>
          <p:cNvSpPr/>
          <p:nvPr/>
        </p:nvSpPr>
        <p:spPr>
          <a:xfrm>
            <a:off x="7498080" y="1828800"/>
            <a:ext cx="1279440" cy="5112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6"/>
          <p:cNvSpPr/>
          <p:nvPr/>
        </p:nvSpPr>
        <p:spPr>
          <a:xfrm>
            <a:off x="7498080" y="184716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7"/>
          <p:cNvSpPr/>
          <p:nvPr/>
        </p:nvSpPr>
        <p:spPr>
          <a:xfrm>
            <a:off x="7992000" y="1956960"/>
            <a:ext cx="78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CRITICAL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8"/>
          <p:cNvSpPr/>
          <p:nvPr/>
        </p:nvSpPr>
        <p:spPr>
          <a:xfrm>
            <a:off x="7498080" y="2541960"/>
            <a:ext cx="1279440" cy="5112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9"/>
          <p:cNvSpPr/>
          <p:nvPr/>
        </p:nvSpPr>
        <p:spPr>
          <a:xfrm>
            <a:off x="7498080" y="256032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d2992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0"/>
          <p:cNvSpPr/>
          <p:nvPr/>
        </p:nvSpPr>
        <p:spPr>
          <a:xfrm>
            <a:off x="7992000" y="2670120"/>
            <a:ext cx="78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d29922"/>
                </a:solidFill>
                <a:effectLst/>
                <a:uFillTx/>
                <a:latin typeface="Consolas"/>
                <a:ea typeface="Consolas"/>
              </a:rPr>
              <a:t>HIGH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1"/>
          <p:cNvSpPr/>
          <p:nvPr/>
        </p:nvSpPr>
        <p:spPr>
          <a:xfrm>
            <a:off x="7498080" y="3255120"/>
            <a:ext cx="1279440" cy="5112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2"/>
          <p:cNvSpPr/>
          <p:nvPr/>
        </p:nvSpPr>
        <p:spPr>
          <a:xfrm>
            <a:off x="7498080" y="327348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3"/>
          <p:cNvSpPr/>
          <p:nvPr/>
        </p:nvSpPr>
        <p:spPr>
          <a:xfrm>
            <a:off x="7992000" y="3383280"/>
            <a:ext cx="78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8a6ff"/>
                </a:solidFill>
                <a:effectLst/>
                <a:uFillTx/>
                <a:latin typeface="Consolas"/>
                <a:ea typeface="Consolas"/>
              </a:rPr>
              <a:t>MEDIUM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9143280" cy="474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365760" y="5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03  ·  Fix &amp; Re-scan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457200" y="6217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Two changes. Zero vulnerabilities.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457200" y="10972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BEFORE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4663440" y="10972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AFTER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4462200" y="1051560"/>
            <a:ext cx="45000" cy="29710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457200" y="1389960"/>
            <a:ext cx="3839760" cy="223956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594360" y="1481400"/>
            <a:ext cx="356544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FROM python:3.6-alpine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requirements.txt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RUN pip install -r requirements.txt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.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CMD ["python", "app.py"]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8"/>
          <p:cNvSpPr/>
          <p:nvPr/>
        </p:nvSpPr>
        <p:spPr>
          <a:xfrm>
            <a:off x="4663440" y="1389960"/>
            <a:ext cx="4022640" cy="223956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4800600" y="1481400"/>
            <a:ext cx="3748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FROM python:3.12-alpine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requirements.txt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RUN pip install --no-cache-dir \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-r requirements.txt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COPY .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CMD ["python", "app.py"]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4681800" y="1481400"/>
            <a:ext cx="3976920" cy="227880"/>
          </a:xfrm>
          <a:prstGeom prst="rect">
            <a:avLst/>
          </a:prstGeom>
          <a:solidFill>
            <a:srgbClr val="1a3d1a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457200" y="3767400"/>
            <a:ext cx="3839760" cy="96840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594360" y="3858840"/>
            <a:ext cx="3565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flask==0.12.2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requests==2.18.0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pyyaml==3.12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3"/>
          <p:cNvSpPr/>
          <p:nvPr/>
        </p:nvSpPr>
        <p:spPr>
          <a:xfrm>
            <a:off x="4663440" y="3767400"/>
            <a:ext cx="4022640" cy="96840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4800600" y="3858840"/>
            <a:ext cx="37483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flask==3.0.3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requests==2.31.0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pyyaml==6.0.1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502920" y="3630240"/>
            <a:ext cx="2742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requirements.txt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457200" y="4645080"/>
            <a:ext cx="8228880" cy="319320"/>
          </a:xfrm>
          <a:prstGeom prst="rect">
            <a:avLst/>
          </a:prstGeom>
          <a:solidFill>
            <a:srgbClr val="0d2a1a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7"/>
          <p:cNvSpPr/>
          <p:nvPr/>
        </p:nvSpPr>
        <p:spPr>
          <a:xfrm>
            <a:off x="594360" y="4681800"/>
            <a:ext cx="8046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✓  trivy image demo-app:fixed  →  0 vulnerabilities found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9143280" cy="474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5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STEP 04  ·  CI/CD Integration  ·  GitHub Actions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457200" y="6217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Fail the pipeline on HIGH or CRITICAL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"/>
          <p:cNvSpPr/>
          <p:nvPr/>
        </p:nvSpPr>
        <p:spPr>
          <a:xfrm>
            <a:off x="365760" y="1097280"/>
            <a:ext cx="5028480" cy="3858120"/>
          </a:xfrm>
          <a:prstGeom prst="rect">
            <a:avLst/>
          </a:prstGeom>
          <a:solidFill>
            <a:srgbClr val="1a1f2b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"/>
          <p:cNvSpPr/>
          <p:nvPr/>
        </p:nvSpPr>
        <p:spPr>
          <a:xfrm>
            <a:off x="502920" y="1188720"/>
            <a:ext cx="4754160" cy="36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name: Security Scan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on: [push, pull_request]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jobs: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trivy-scan: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runs-on: ubuntu-latest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steps: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- uses: actions/checkout@v4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- name: Build Docker image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run: docker build -t app:latest .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- name: Scan with Trivy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uses: aquasecurity/trivy-action@master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with: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  image-ref: 'app:latest'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  format: 'table'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  exit-code: '1'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  severity: 'HIGH,CRITICAL'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        ignore-unfixed: true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411480" y="960120"/>
            <a:ext cx="365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.github/workflows/security.yml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6"/>
          <p:cNvSpPr/>
          <p:nvPr/>
        </p:nvSpPr>
        <p:spPr>
          <a:xfrm>
            <a:off x="5577840" y="1170360"/>
            <a:ext cx="3291120" cy="1023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 0" descr="preencoded.png"/>
          <p:cNvPicPr/>
          <p:nvPr/>
        </p:nvPicPr>
        <p:blipFill>
          <a:blip r:embed="rId1"/>
          <a:stretch/>
        </p:blipFill>
        <p:spPr>
          <a:xfrm>
            <a:off x="5669280" y="13075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7"/>
          <p:cNvSpPr/>
          <p:nvPr/>
        </p:nvSpPr>
        <p:spPr>
          <a:xfrm>
            <a:off x="6144840" y="126180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5149"/>
                </a:solidFill>
                <a:effectLst/>
                <a:uFillTx/>
                <a:latin typeface="Consolas"/>
                <a:ea typeface="Consolas"/>
              </a:rPr>
              <a:t>exit-code: '1'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6144840" y="1572840"/>
            <a:ext cx="263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Pipeline fails if HIGH or CRITICAL CVEs found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5577840" y="2377440"/>
            <a:ext cx="3291120" cy="10234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1" descr="preencoded.png"/>
          <p:cNvPicPr/>
          <p:nvPr/>
        </p:nvPicPr>
        <p:blipFill>
          <a:blip r:embed="rId2"/>
          <a:stretch/>
        </p:blipFill>
        <p:spPr>
          <a:xfrm>
            <a:off x="5669280" y="25146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10"/>
          <p:cNvSpPr/>
          <p:nvPr/>
        </p:nvSpPr>
        <p:spPr>
          <a:xfrm>
            <a:off x="6144840" y="246888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ignore-unfixed: true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6144840" y="2779920"/>
            <a:ext cx="263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Skip CVEs with no patch available — reduces noise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5577840" y="3584520"/>
            <a:ext cx="3291120" cy="1023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2" descr="preencoded.png"/>
          <p:cNvPicPr/>
          <p:nvPr/>
        </p:nvPicPr>
        <p:blipFill>
          <a:blip r:embed="rId3"/>
          <a:stretch/>
        </p:blipFill>
        <p:spPr>
          <a:xfrm>
            <a:off x="5669280" y="37216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13"/>
          <p:cNvSpPr/>
          <p:nvPr/>
        </p:nvSpPr>
        <p:spPr>
          <a:xfrm>
            <a:off x="6144840" y="367596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PR-level blocking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6144840" y="3986640"/>
            <a:ext cx="263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Vulnerable code never merges to main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HONEST TALK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457200" y="45720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Reality Check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457200" y="10058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What Trivy won't solve for you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"/>
          <p:cNvSpPr/>
          <p:nvPr/>
        </p:nvSpPr>
        <p:spPr>
          <a:xfrm>
            <a:off x="365760" y="1481400"/>
            <a:ext cx="841176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5"/>
          <p:cNvSpPr/>
          <p:nvPr/>
        </p:nvSpPr>
        <p:spPr>
          <a:xfrm>
            <a:off x="365760" y="1481400"/>
            <a:ext cx="54000" cy="7491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530280" y="16549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6"/>
          <p:cNvSpPr/>
          <p:nvPr/>
        </p:nvSpPr>
        <p:spPr>
          <a:xfrm>
            <a:off x="1005840" y="157284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d29922"/>
                </a:solidFill>
                <a:effectLst/>
                <a:uFillTx/>
                <a:latin typeface="Calibri"/>
                <a:ea typeface="Calibri"/>
              </a:rPr>
              <a:t>False positives exist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1005840" y="186552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Especially in distroless images or Go binaries. Use .trivyignore to suppress known-safe findings with justification.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8"/>
          <p:cNvSpPr/>
          <p:nvPr/>
        </p:nvSpPr>
        <p:spPr>
          <a:xfrm>
            <a:off x="365760" y="2322720"/>
            <a:ext cx="841176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9"/>
          <p:cNvSpPr/>
          <p:nvPr/>
        </p:nvSpPr>
        <p:spPr>
          <a:xfrm>
            <a:off x="365760" y="2322720"/>
            <a:ext cx="54000" cy="7491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1" descr="preencoded.png"/>
          <p:cNvPicPr/>
          <p:nvPr/>
        </p:nvPicPr>
        <p:blipFill>
          <a:blip r:embed="rId2"/>
          <a:stretch/>
        </p:blipFill>
        <p:spPr>
          <a:xfrm>
            <a:off x="530280" y="249624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10"/>
          <p:cNvSpPr/>
          <p:nvPr/>
        </p:nvSpPr>
        <p:spPr>
          <a:xfrm>
            <a:off x="1005840" y="24141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85149"/>
                </a:solidFill>
                <a:effectLst/>
                <a:uFillTx/>
                <a:latin typeface="Calibri"/>
                <a:ea typeface="Calibri"/>
              </a:rPr>
              <a:t>Not all CVEs are exploitable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1005840" y="270648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 CVE in a networking lib doesn't matter if your app doesn't touch the network. Context matters.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2"/>
          <p:cNvSpPr/>
          <p:nvPr/>
        </p:nvSpPr>
        <p:spPr>
          <a:xfrm>
            <a:off x="365760" y="3163680"/>
            <a:ext cx="841176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365760" y="3163680"/>
            <a:ext cx="54000" cy="7491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2" descr="preencoded.png"/>
          <p:cNvPicPr/>
          <p:nvPr/>
        </p:nvPicPr>
        <p:blipFill>
          <a:blip r:embed="rId3"/>
          <a:stretch/>
        </p:blipFill>
        <p:spPr>
          <a:xfrm>
            <a:off x="530280" y="333756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14"/>
          <p:cNvSpPr/>
          <p:nvPr/>
        </p:nvSpPr>
        <p:spPr>
          <a:xfrm>
            <a:off x="1005840" y="32551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Trivy doesn't catch logic bugs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1005840" y="354780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It scans known CVEs and misconfigs — not SQL injection or auth bypass in your own code. You still need code review.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6"/>
          <p:cNvSpPr/>
          <p:nvPr/>
        </p:nvSpPr>
        <p:spPr>
          <a:xfrm>
            <a:off x="365760" y="4005000"/>
            <a:ext cx="8411760" cy="749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365760" y="4005000"/>
            <a:ext cx="54000" cy="7491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3" descr="preencoded.png"/>
          <p:cNvPicPr/>
          <p:nvPr/>
        </p:nvPicPr>
        <p:blipFill>
          <a:blip r:embed="rId4"/>
          <a:stretch/>
        </p:blipFill>
        <p:spPr>
          <a:xfrm>
            <a:off x="530280" y="41788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18"/>
          <p:cNvSpPr/>
          <p:nvPr/>
        </p:nvSpPr>
        <p:spPr>
          <a:xfrm>
            <a:off x="1005840" y="409644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c8cff"/>
                </a:solidFill>
                <a:effectLst/>
                <a:uFillTx/>
                <a:latin typeface="Calibri"/>
                <a:ea typeface="Calibri"/>
              </a:rPr>
              <a:t>Governance still needs a human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1005840" y="438912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Who decides which CVEs are acceptable risk? That policy has to come from your team, not a tool.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PRACTICAL ADVICE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457200" y="457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Best Practices to Avoid the Pain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320040" y="12344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4"/>
          <p:cNvSpPr/>
          <p:nvPr/>
        </p:nvSpPr>
        <p:spPr>
          <a:xfrm>
            <a:off x="320040" y="12344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320040" y="158184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0" descr="preencoded.png"/>
          <p:cNvPicPr/>
          <p:nvPr/>
        </p:nvPicPr>
        <p:blipFill>
          <a:blip r:embed="rId1"/>
          <a:stretch/>
        </p:blipFill>
        <p:spPr>
          <a:xfrm>
            <a:off x="795600" y="15544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6"/>
          <p:cNvSpPr/>
          <p:nvPr/>
        </p:nvSpPr>
        <p:spPr>
          <a:xfrm>
            <a:off x="1289160" y="13626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small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1289160" y="167328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Scan one service first. Don't boil the ocean.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4727520" y="12344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9"/>
          <p:cNvSpPr/>
          <p:nvPr/>
        </p:nvSpPr>
        <p:spPr>
          <a:xfrm>
            <a:off x="4727520" y="12344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0"/>
          <p:cNvSpPr/>
          <p:nvPr/>
        </p:nvSpPr>
        <p:spPr>
          <a:xfrm>
            <a:off x="4727520" y="158184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bc8cf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1" descr="preencoded.png"/>
          <p:cNvPicPr/>
          <p:nvPr/>
        </p:nvPicPr>
        <p:blipFill>
          <a:blip r:embed="rId2"/>
          <a:stretch/>
        </p:blipFill>
        <p:spPr>
          <a:xfrm>
            <a:off x="5203080" y="15544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Text 11"/>
          <p:cNvSpPr/>
          <p:nvPr/>
        </p:nvSpPr>
        <p:spPr>
          <a:xfrm>
            <a:off x="5696640" y="13626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Fail selectively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5696640" y="167328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Block only HIGH+CRITICAL. Log the rest.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320040" y="24962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320040" y="24962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320040" y="284364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8a6f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2" descr="preencoded.png"/>
          <p:cNvPicPr/>
          <p:nvPr/>
        </p:nvPicPr>
        <p:blipFill>
          <a:blip r:embed="rId3"/>
          <a:stretch/>
        </p:blipFill>
        <p:spPr>
          <a:xfrm>
            <a:off x="795600" y="28162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16"/>
          <p:cNvSpPr/>
          <p:nvPr/>
        </p:nvSpPr>
        <p:spPr>
          <a:xfrm>
            <a:off x="1289160" y="26244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 ignore with justification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1289160" y="293508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Every .trivyignore entry should have a comment.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8"/>
          <p:cNvSpPr/>
          <p:nvPr/>
        </p:nvSpPr>
        <p:spPr>
          <a:xfrm>
            <a:off x="4727520" y="24962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4727520" y="24962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0"/>
          <p:cNvSpPr/>
          <p:nvPr/>
        </p:nvSpPr>
        <p:spPr>
          <a:xfrm>
            <a:off x="4727520" y="284364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fb950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3" descr="preencoded.png"/>
          <p:cNvPicPr/>
          <p:nvPr/>
        </p:nvPicPr>
        <p:blipFill>
          <a:blip r:embed="rId4"/>
          <a:stretch/>
        </p:blipFill>
        <p:spPr>
          <a:xfrm>
            <a:off x="5203080" y="28162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21"/>
          <p:cNvSpPr/>
          <p:nvPr/>
        </p:nvSpPr>
        <p:spPr>
          <a:xfrm>
            <a:off x="5696640" y="26244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Pin base image digests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5696640" y="293508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FROM python:3.12@sha256:... for reproducible builds.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320040" y="37580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4"/>
          <p:cNvSpPr/>
          <p:nvPr/>
        </p:nvSpPr>
        <p:spPr>
          <a:xfrm>
            <a:off x="320040" y="37580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5"/>
          <p:cNvSpPr/>
          <p:nvPr/>
        </p:nvSpPr>
        <p:spPr>
          <a:xfrm>
            <a:off x="320040" y="410580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d29922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4" descr="preencoded.png"/>
          <p:cNvPicPr/>
          <p:nvPr/>
        </p:nvPicPr>
        <p:blipFill>
          <a:blip r:embed="rId5"/>
          <a:stretch/>
        </p:blipFill>
        <p:spPr>
          <a:xfrm>
            <a:off x="795600" y="40780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26"/>
          <p:cNvSpPr/>
          <p:nvPr/>
        </p:nvSpPr>
        <p:spPr>
          <a:xfrm>
            <a:off x="1289160" y="38862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Scan on PR, not just main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7"/>
          <p:cNvSpPr/>
          <p:nvPr/>
        </p:nvSpPr>
        <p:spPr>
          <a:xfrm>
            <a:off x="1289160" y="419724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Catch issues before they land in the codebase.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8"/>
          <p:cNvSpPr/>
          <p:nvPr/>
        </p:nvSpPr>
        <p:spPr>
          <a:xfrm>
            <a:off x="4727520" y="3758040"/>
            <a:ext cx="4205520" cy="111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9"/>
          <p:cNvSpPr/>
          <p:nvPr/>
        </p:nvSpPr>
        <p:spPr>
          <a:xfrm>
            <a:off x="4727520" y="3758040"/>
            <a:ext cx="383400" cy="1114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0"/>
          <p:cNvSpPr/>
          <p:nvPr/>
        </p:nvSpPr>
        <p:spPr>
          <a:xfrm>
            <a:off x="4727520" y="4105800"/>
            <a:ext cx="383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8a6f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6" name="Image 5" descr="preencoded.png"/>
          <p:cNvPicPr/>
          <p:nvPr/>
        </p:nvPicPr>
        <p:blipFill>
          <a:blip r:embed="rId6"/>
          <a:stretch/>
        </p:blipFill>
        <p:spPr>
          <a:xfrm>
            <a:off x="5203080" y="40780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31"/>
          <p:cNvSpPr/>
          <p:nvPr/>
        </p:nvSpPr>
        <p:spPr>
          <a:xfrm>
            <a:off x="5696640" y="3886200"/>
            <a:ext cx="314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Keep Trivy updated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2"/>
          <p:cNvSpPr/>
          <p:nvPr/>
        </p:nvSpPr>
        <p:spPr>
          <a:xfrm>
            <a:off x="5696640" y="4197240"/>
            <a:ext cx="3144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CVE databases lag. Run the latest scanner weekly.</a:t>
            </a:r>
            <a:endParaRPr b="0" lang="en-IN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365760" y="10980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TAKEAWAYS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457200" y="457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365760" y="1261800"/>
            <a:ext cx="8411760" cy="6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365760" y="1261800"/>
            <a:ext cx="54000" cy="621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0" descr="preencoded.png"/>
          <p:cNvPicPr/>
          <p:nvPr/>
        </p:nvPicPr>
        <p:blipFill>
          <a:blip r:embed="rId1"/>
          <a:stretch/>
        </p:blipFill>
        <p:spPr>
          <a:xfrm>
            <a:off x="530280" y="137160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5"/>
          <p:cNvSpPr/>
          <p:nvPr/>
        </p:nvSpPr>
        <p:spPr>
          <a:xfrm>
            <a:off x="987480" y="1389960"/>
            <a:ext cx="769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scanning doesn't need to be complex — one binary, one CI step.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365760" y="2011680"/>
            <a:ext cx="8411760" cy="6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7"/>
          <p:cNvSpPr/>
          <p:nvPr/>
        </p:nvSpPr>
        <p:spPr>
          <a:xfrm>
            <a:off x="365760" y="2011680"/>
            <a:ext cx="54000" cy="621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1" descr="preencoded.png"/>
          <p:cNvPicPr/>
          <p:nvPr/>
        </p:nvPicPr>
        <p:blipFill>
          <a:blip r:embed="rId2"/>
          <a:stretch/>
        </p:blipFill>
        <p:spPr>
          <a:xfrm>
            <a:off x="530280" y="21214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8"/>
          <p:cNvSpPr/>
          <p:nvPr/>
        </p:nvSpPr>
        <p:spPr>
          <a:xfrm>
            <a:off x="987480" y="2139840"/>
            <a:ext cx="769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Trivy gives you actionable results: what's vulnerable, and exactly what version fixes it.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9"/>
          <p:cNvSpPr/>
          <p:nvPr/>
        </p:nvSpPr>
        <p:spPr>
          <a:xfrm>
            <a:off x="365760" y="2761560"/>
            <a:ext cx="8411760" cy="6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0"/>
          <p:cNvSpPr/>
          <p:nvPr/>
        </p:nvSpPr>
        <p:spPr>
          <a:xfrm>
            <a:off x="365760" y="2761560"/>
            <a:ext cx="54000" cy="6210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2" descr="preencoded.png"/>
          <p:cNvPicPr/>
          <p:nvPr/>
        </p:nvPicPr>
        <p:blipFill>
          <a:blip r:embed="rId3"/>
          <a:stretch/>
        </p:blipFill>
        <p:spPr>
          <a:xfrm>
            <a:off x="530280" y="287136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11"/>
          <p:cNvSpPr/>
          <p:nvPr/>
        </p:nvSpPr>
        <p:spPr>
          <a:xfrm>
            <a:off x="987480" y="2889360"/>
            <a:ext cx="769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Fail selectively. Block CRITICAL/HIGH, log the rest. Don't let noise kill adoption.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365760" y="3511440"/>
            <a:ext cx="8411760" cy="6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3"/>
          <p:cNvSpPr/>
          <p:nvPr/>
        </p:nvSpPr>
        <p:spPr>
          <a:xfrm>
            <a:off x="365760" y="3511440"/>
            <a:ext cx="54000" cy="6210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Image 3" descr="preencoded.png"/>
          <p:cNvPicPr/>
          <p:nvPr/>
        </p:nvPicPr>
        <p:blipFill>
          <a:blip r:embed="rId4"/>
          <a:stretch/>
        </p:blipFill>
        <p:spPr>
          <a:xfrm>
            <a:off x="530280" y="36208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14"/>
          <p:cNvSpPr/>
          <p:nvPr/>
        </p:nvSpPr>
        <p:spPr>
          <a:xfrm>
            <a:off x="987480" y="3639240"/>
            <a:ext cx="769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Open source is production-ready. Trivy is used by Google, GitHub, and AWS internally.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365760" y="4260960"/>
            <a:ext cx="8411760" cy="621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6"/>
          <p:cNvSpPr/>
          <p:nvPr/>
        </p:nvSpPr>
        <p:spPr>
          <a:xfrm>
            <a:off x="365760" y="4260960"/>
            <a:ext cx="54000" cy="621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4" descr="preencoded.png"/>
          <p:cNvPicPr/>
          <p:nvPr/>
        </p:nvPicPr>
        <p:blipFill>
          <a:blip r:embed="rId5"/>
          <a:stretch/>
        </p:blipFill>
        <p:spPr>
          <a:xfrm>
            <a:off x="530280" y="437076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17"/>
          <p:cNvSpPr/>
          <p:nvPr/>
        </p:nvSpPr>
        <p:spPr>
          <a:xfrm>
            <a:off x="987480" y="4389120"/>
            <a:ext cx="7698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Shift left works when friction is low. The simpler the setup, the more likely teams will use it.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0" descr="preencoded.png"/>
          <p:cNvPicPr/>
          <p:nvPr/>
        </p:nvPicPr>
        <p:blipFill>
          <a:blip r:embed="rId1"/>
          <a:stretch/>
        </p:blipFill>
        <p:spPr>
          <a:xfrm>
            <a:off x="3931920" y="411480"/>
            <a:ext cx="1279440" cy="127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1"/>
          <p:cNvSpPr/>
          <p:nvPr/>
        </p:nvSpPr>
        <p:spPr>
          <a:xfrm>
            <a:off x="457200" y="1783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In under 15 minutes,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457200" y="228600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we turned a regular pipeline into one that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457200" y="27432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58a6ff"/>
                </a:solidFill>
                <a:effectLst/>
                <a:uFillTx/>
                <a:latin typeface="Calibri"/>
                <a:ea typeface="Calibri"/>
              </a:rPr>
              <a:t>actively blocks vulnerable code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457200" y="3264480"/>
            <a:ext cx="8228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3fb950"/>
                </a:solidFill>
                <a:effectLst/>
                <a:uFillTx/>
                <a:latin typeface="Calibri"/>
                <a:ea typeface="Calibri"/>
              </a:rPr>
              <a:t>using open source.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457200" y="4224600"/>
            <a:ext cx="3656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8a6ff"/>
                </a:solidFill>
                <a:effectLst/>
                <a:uFillTx/>
                <a:latin typeface="Consolas"/>
                <a:ea typeface="Consolas"/>
              </a:rPr>
              <a:t>github.com/aquasecurity/trivy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457200" y="45536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Abhinav Bharadwaj R  ·  FOSSUnited Bengaluru  ·  April 2026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8"/>
          <p:cNvSpPr/>
          <p:nvPr/>
        </p:nvSpPr>
        <p:spPr>
          <a:xfrm>
            <a:off x="7498080" y="4160520"/>
            <a:ext cx="1279440" cy="913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7498080" y="4316040"/>
            <a:ext cx="1279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REPO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QR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LibreOffice/25.2.7.2$Linux_X86_64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2026-04-25T00:09:30Z</dcterms:created>
  <dc:creator>Abhinav Bharadwaj R</dc:creator>
  <dc:description/>
  <dc:language>en-IN</dc:language>
  <cp:lastModifiedBy/>
  <dcterms:modified xsi:type="dcterms:W3CDTF">2026-04-26T12:05:26Z</dcterms:modified>
  <cp:revision>4</cp:revision>
  <dc:subject>PptxGenJS Presentation</dc:subject>
  <dc:title>Shift Left Without the Pain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